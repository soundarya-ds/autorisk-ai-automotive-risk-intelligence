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2cce695-8cd5-16b4-481d-074cdde584a8}">
          <p14:sldIdLst>
            <p14:sldId id="256"/>
          </p14:sldIdLst>
        </p14:section>
        <p14:section name="Approach" id="{6386e377-baaf-dcd2-0853-3792591bf689}">
          <p14:sldIdLst>
            <p14:sldId id="257"/>
            <p14:sldId id="258"/>
          </p14:sldIdLst>
        </p14:section>
        <p14:section name="Findings" id="{54bf55cd-e3f0-119f-9ae6-4c576eb87cf0}">
          <p14:sldIdLst>
            <p14:sldId id="259"/>
            <p14:sldId id="260"/>
          </p14:sldIdLst>
        </p14:section>
        <p14:section name="Validation" id="{b2691fab-adbf-b3dc-4bf6-51b6f491d695}">
          <p14:sldIdLst>
            <p14:sldId id="261"/>
          </p14:sldIdLst>
        </p14:section>
        <p14:section name="Next" id="{ef5f9dc1-f754-8bfc-794b-2f82eb29d2fb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2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324A"/>
                </a:solidFill>
                <a:latin typeface="+mn-lt"/>
              </a:rPr>
              <a:t>Average units produced per shift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per shift</c:v>
                </c:pt>
              </c:strCache>
            </c:strRef>
          </c:tx>
          <c:spPr>
            <a:solidFill>
              <a:srgbClr val="3E6A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A2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Day shift</c:v>
                  </c:pt>
                  <c:pt idx="1">
                    <c:v>Night shift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230.28</c:v>
                </c:pt>
                <c:pt idx="1">
                  <c:v>150.39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43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32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2324A"/>
                </a:solidFill>
                <a:latin typeface="+mn-lt"/>
              </a:rPr>
              <a:t>Weight in score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454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E6A8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6A23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B7A8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 defects</c:v>
                </c:pt>
                <c:pt idx="1">
                  <c:v>Quality risk</c:v>
                </c:pt>
                <c:pt idx="2">
                  <c:v>Delivery risk</c:v>
                </c:pt>
                <c:pt idx="3">
                  <c:v>High defects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AutoRisk AI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Supplier and production risk intelligence for automotive manufacturing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B5C2D0"/>
                </a:solidFill>
              </a:rPr>
              <a:t>Soundarya Lakshmi Rajendran  |  Snowflake + Streamlit</a:t>
            </a:r>
            <a:endParaRPr lang="en-US" sz="1600" dirty="0"/>
          </a:p>
        </p:txBody>
      </p:sp>
      <p:sp>
        <p:nvSpPr>
          <p:cNvPr id="4" name="icon-circle"/>
          <p:cNvSpPr/>
          <p:nvPr/>
        </p:nvSpPr>
        <p:spPr>
          <a:xfrm>
            <a:off x="7772400" y="548640"/>
            <a:ext cx="731520" cy="73152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3334" y="709574"/>
            <a:ext cx="409651" cy="4096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 lenses, one pipeline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Production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Shift output, scrap, downtime and efficiency by shift type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DC4545"/>
          </a:solidFill>
          <a:ln w="12700">
            <a:solidFill>
              <a:srgbClr val="DC4545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Supplier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Quality, on-time delivery and defect severity per supplier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329764"/>
          </a:solidFill>
          <a:ln w="12700">
            <a:solidFill>
              <a:srgbClr val="329764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5837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Quality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Inspections, defects and warranty repair cost</a:t>
            </a:r>
            <a:endParaRPr lang="en-US" sz="1400" dirty="0"/>
          </a:p>
        </p:txBody>
      </p:sp>
      <p:sp>
        <p:nvSpPr>
          <p:cNvPr id="18" name="flow-step"/>
          <p:cNvSpPr/>
          <p:nvPr/>
        </p:nvSpPr>
        <p:spPr>
          <a:xfrm>
            <a:off x="548640" y="352044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Snowflake source tables</a:t>
            </a:r>
            <a:endParaRPr lang="en-US" sz="1500" dirty="0"/>
          </a:p>
        </p:txBody>
      </p:sp>
      <p:sp>
        <p:nvSpPr>
          <p:cNvPr id="20" name="flow-arrow"/>
          <p:cNvSpPr/>
          <p:nvPr/>
        </p:nvSpPr>
        <p:spPr>
          <a:xfrm>
            <a:off x="2880360" y="3794760"/>
            <a:ext cx="36576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flow-step"/>
          <p:cNvSpPr/>
          <p:nvPr/>
        </p:nvSpPr>
        <p:spPr>
          <a:xfrm>
            <a:off x="3291840" y="352044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29184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ANALYTICS risk views</a:t>
            </a:r>
            <a:endParaRPr lang="en-US" sz="1500" dirty="0"/>
          </a:p>
        </p:txBody>
      </p:sp>
      <p:sp>
        <p:nvSpPr>
          <p:cNvPr id="23" name="flow-arrow"/>
          <p:cNvSpPr/>
          <p:nvPr/>
        </p:nvSpPr>
        <p:spPr>
          <a:xfrm>
            <a:off x="5623560" y="3794760"/>
            <a:ext cx="36576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flow-step"/>
          <p:cNvSpPr/>
          <p:nvPr/>
        </p:nvSpPr>
        <p:spPr>
          <a:xfrm>
            <a:off x="6035040" y="352044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03504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Streamlit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 in AUTO_MFG_DW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Source schemas</a:t>
            </a:r>
            <a:endParaRPr lang="en-US" sz="1600" dirty="0"/>
          </a:p>
        </p:txBody>
      </p:sp>
      <p:sp>
        <p:nvSpPr>
          <p:cNvPr id="4" name="schema"/>
          <p:cNvSpPr/>
          <p:nvPr/>
        </p:nvSpPr>
        <p:spPr>
          <a:xfrm>
            <a:off x="548640" y="1600200"/>
            <a:ext cx="3017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SUPPLY_CHAIN</a:t>
            </a:r>
            <a:endParaRPr lang="en-US" sz="1400" dirty="0"/>
          </a:p>
        </p:txBody>
      </p:sp>
      <p:sp>
        <p:nvSpPr>
          <p:cNvPr id="6" name="schema"/>
          <p:cNvSpPr/>
          <p:nvPr/>
        </p:nvSpPr>
        <p:spPr>
          <a:xfrm>
            <a:off x="548640" y="2167128"/>
            <a:ext cx="3017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67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QUALITY</a:t>
            </a:r>
            <a:endParaRPr lang="en-US" sz="1400" dirty="0"/>
          </a:p>
        </p:txBody>
      </p:sp>
      <p:sp>
        <p:nvSpPr>
          <p:cNvPr id="8" name="schema"/>
          <p:cNvSpPr/>
          <p:nvPr/>
        </p:nvSpPr>
        <p:spPr>
          <a:xfrm>
            <a:off x="548640" y="2734056"/>
            <a:ext cx="3017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34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WORKFORCE</a:t>
            </a:r>
            <a:endParaRPr lang="en-US" sz="1400" dirty="0"/>
          </a:p>
        </p:txBody>
      </p:sp>
      <p:sp>
        <p:nvSpPr>
          <p:cNvPr id="10" name="schema"/>
          <p:cNvSpPr/>
          <p:nvPr/>
        </p:nvSpPr>
        <p:spPr>
          <a:xfrm>
            <a:off x="548640" y="3300984"/>
            <a:ext cx="3017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00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SALES</a:t>
            </a:r>
            <a:endParaRPr lang="en-US" sz="1400" dirty="0"/>
          </a:p>
        </p:txBody>
      </p:sp>
      <p:sp>
        <p:nvSpPr>
          <p:cNvPr id="12" name="schema"/>
          <p:cNvSpPr/>
          <p:nvPr/>
        </p:nvSpPr>
        <p:spPr>
          <a:xfrm>
            <a:off x="548640" y="3867912"/>
            <a:ext cx="301752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3794760" y="2697480"/>
            <a:ext cx="54864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ANALYTICS views</a:t>
            </a:r>
            <a:endParaRPr lang="en-US" sz="1600" dirty="0"/>
          </a:p>
        </p:txBody>
      </p:sp>
      <p:sp>
        <p:nvSpPr>
          <p:cNvPr id="16" name="view-card"/>
          <p:cNvSpPr/>
          <p:nvPr/>
        </p:nvSpPr>
        <p:spPr>
          <a:xfrm>
            <a:off x="4572000" y="160020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PRODUCTION_RISK_VIEW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Shift-level output and risk flag</a:t>
            </a:r>
            <a:endParaRPr lang="en-US" sz="1300" dirty="0"/>
          </a:p>
        </p:txBody>
      </p:sp>
      <p:sp>
        <p:nvSpPr>
          <p:cNvPr id="19" name="view-card"/>
          <p:cNvSpPr/>
          <p:nvPr/>
        </p:nvSpPr>
        <p:spPr>
          <a:xfrm>
            <a:off x="4572000" y="25603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SUPPLIER_RISK_VIEW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Defects, orders, rule-based risk</a:t>
            </a:r>
            <a:endParaRPr lang="en-US" sz="1300" dirty="0"/>
          </a:p>
        </p:txBody>
      </p:sp>
      <p:sp>
        <p:nvSpPr>
          <p:cNvPr id="22" name="view-card"/>
          <p:cNvSpPr/>
          <p:nvPr/>
        </p:nvSpPr>
        <p:spPr>
          <a:xfrm>
            <a:off x="4572000" y="35204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SUPPLIER_RISK_SCORE_VIEW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Weighted 0–100 score and category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shift produces 34.7% fewer units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486400" y="1325880"/>
            <a:ext cx="3108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150.39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night-shift units per shift, below the 160 threshold and flagged INVESTIGATE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5486400" y="3017520"/>
            <a:ext cx="31089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31089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 scrap, downtime and efficiency across shifts: the gap is in output volume, so the cause is worth investigating rather than assuming.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weighted supplier risk score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75488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Each component is scaled 0–100 and capped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6916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Quality risk = 100 − quality rating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Delivery risk = 100 − on-time 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Critical defects × 10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defects × 5</a:t>
            </a:r>
            <a:endParaRPr lang="en-US" sz="1400" dirty="0"/>
          </a:p>
        </p:txBody>
      </p:sp>
      <p:sp>
        <p:nvSpPr>
          <p:cNvPr id="6" name="risk-pill"/>
          <p:cNvSpPr/>
          <p:nvPr/>
        </p:nvSpPr>
        <p:spPr>
          <a:xfrm>
            <a:off x="4754880" y="3200400"/>
            <a:ext cx="1737360" cy="393192"/>
          </a:xfrm>
          <a:prstGeom prst="roundRect">
            <a:avLst>
              <a:gd name="adj" fmla="val 46512"/>
            </a:avLst>
          </a:prstGeom>
          <a:solidFill>
            <a:srgbClr val="DC4545"/>
          </a:solidFill>
          <a:ln w="12700">
            <a:solidFill>
              <a:srgbClr val="DC4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0" y="3200400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 RISK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320040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≥ 70</a:t>
            </a:r>
            <a:endParaRPr lang="en-US" sz="1400" dirty="0"/>
          </a:p>
        </p:txBody>
      </p:sp>
      <p:sp>
        <p:nvSpPr>
          <p:cNvPr id="9" name="risk-pill"/>
          <p:cNvSpPr/>
          <p:nvPr/>
        </p:nvSpPr>
        <p:spPr>
          <a:xfrm>
            <a:off x="4754880" y="3703320"/>
            <a:ext cx="1737360" cy="393192"/>
          </a:xfrm>
          <a:prstGeom prst="roundRect">
            <a:avLst>
              <a:gd name="adj" fmla="val 46512"/>
            </a:avLst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3703320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MEDIUM RISK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70332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≥ 40</a:t>
            </a:r>
            <a:endParaRPr lang="en-US" sz="1400" dirty="0"/>
          </a:p>
        </p:txBody>
      </p:sp>
      <p:sp>
        <p:nvSpPr>
          <p:cNvPr id="12" name="risk-pill"/>
          <p:cNvSpPr/>
          <p:nvPr/>
        </p:nvSpPr>
        <p:spPr>
          <a:xfrm>
            <a:off x="4754880" y="4206240"/>
            <a:ext cx="1737360" cy="393192"/>
          </a:xfrm>
          <a:prstGeom prst="roundRect">
            <a:avLst>
              <a:gd name="adj" fmla="val 46512"/>
            </a:avLst>
          </a:prstGeom>
          <a:solidFill>
            <a:srgbClr val="329764"/>
          </a:solidFill>
          <a:ln w="12700">
            <a:solidFill>
              <a:srgbClr val="3297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4206240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LOW RISK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420624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&lt; 40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the data behind the score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8046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731520" y="1435608"/>
            <a:ext cx="548640" cy="54864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56309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Rating scale mismatch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45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Quality ratings run 50–99.5, so the rule QUALITY_RATING &lt; 3 never fits the data. It was removed until a threshold is set from the distribution.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48640" y="2331720"/>
            <a:ext cx="8046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731520" y="2532888"/>
            <a:ext cx="548640" cy="548640"/>
          </a:xfrm>
          <a:prstGeom prst="ellipse">
            <a:avLst/>
          </a:prstGeom>
          <a:solidFill>
            <a:srgbClr val="DC4545"/>
          </a:solidFill>
          <a:ln w="12700">
            <a:solidFill>
              <a:srgbClr val="DC4545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653589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Delivery above 100%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2743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On-time delivery values over 100% are not assumed valid and are inspected before any handling rule is chosen.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731520" y="3630168"/>
            <a:ext cx="548640" cy="548640"/>
          </a:xfrm>
          <a:prstGeom prst="ellipse">
            <a:avLst/>
          </a:prstGeom>
          <a:solidFill>
            <a:srgbClr val="3E6A8A"/>
          </a:solidFill>
          <a:ln w="12700">
            <a:solidFill>
              <a:srgbClr val="3E6A8A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750869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520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Low score is not risk-free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840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Missing ratings default to zero risk in the score, so data completeness is checked alongside the underlying indicators.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views to a live dashboard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1874520" cy="20116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number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Point Streamlit at the risk score view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2606040" y="1463040"/>
            <a:ext cx="1874520" cy="20116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-number"/>
          <p:cNvSpPr/>
          <p:nvPr/>
        </p:nvSpPr>
        <p:spPr>
          <a:xfrm>
            <a:off x="27889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377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Grant the app's role access to the ANALYTICS schema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663440" y="1463040"/>
            <a:ext cx="1874520" cy="20116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-number"/>
          <p:cNvSpPr/>
          <p:nvPr/>
        </p:nvSpPr>
        <p:spPr>
          <a:xfrm>
            <a:off x="48463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377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 quality and delivery thresholds from the data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720840" y="1463040"/>
            <a:ext cx="1874520" cy="20116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-number"/>
          <p:cNvSpPr/>
          <p:nvPr/>
        </p:nvSpPr>
        <p:spPr>
          <a:xfrm>
            <a:off x="69037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77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production and warranty views to the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AutoRisk AI turns Snowflake manufacturing data into ranked, explainable risk signals for production and suppliers. Night-shift output is about 34.7% below day shift while scrap, downtime and efficiency stay similar, which points to a volume gap worth investigating. The supplier score combines quality, delivery and defect severity into a transparent 0–100 rating, with data checks guarding its reliability. Connecting the score view to Streamlit is the final step toward a decision-ready dashboard.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Risk">
  <a:themeElements>
    <a:clrScheme name="AutoRisk">
      <a:dk1>
        <a:srgbClr val="1B2432"/>
      </a:dk1>
      <a:lt1>
        <a:srgbClr val="FFFFFF"/>
      </a:lt1>
      <a:dk2>
        <a:srgbClr val="22324A"/>
      </a:dk2>
      <a:lt2>
        <a:srgbClr val="EEF2F6"/>
      </a:lt2>
      <a:accent1>
        <a:srgbClr val="E6A23C"/>
      </a:accent1>
      <a:accent2>
        <a:srgbClr val="DC4545"/>
      </a:accent2>
      <a:accent3>
        <a:srgbClr val="329764"/>
      </a:accent3>
      <a:accent4>
        <a:srgbClr val="3E6A8A"/>
      </a:accent4>
      <a:accent5>
        <a:srgbClr val="6B7A8F"/>
      </a:accent5>
      <a:accent6>
        <a:srgbClr val="B5C2D0"/>
      </a:accent6>
      <a:hlink>
        <a:srgbClr val="3E6A8A"/>
      </a:hlink>
      <a:folHlink>
        <a:srgbClr val="6B7A8F"/>
      </a:folHlink>
    </a:clrScheme>
    <a:fontScheme name="Auto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AutoRisk AI</dc:title>
  <dc:subject>PptxGenJS Presentation</dc:subject>
  <dc:creator>Soundarya Lakshmi Rajendran</dc:creator>
  <cp:lastModifiedBy>Soundarya Lakshmi Rajendran</cp:lastModifiedBy>
  <cp:revision>1</cp:revision>
  <dcterms:created xsi:type="dcterms:W3CDTF">2026-10-16T20:23:08Z</dcterms:created>
  <dcterms:modified xsi:type="dcterms:W3CDTF">2026-10-16T20:23:08Z</dcterms:modified>
</cp:coreProperties>
</file>